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(10 s): apresentar o grupo e a instância. Nossa instância tem um detalhe que guia tudo: a ordem de inserção é ORDENADA — o caso clássico que derruba árvores de busca sem balanceamento.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1 (1–2 min, Integrante A). Intuição: árvore rasa = rápida; AVL garante a menor altura. O 'aumentada': size + agregado por nó → rank, select e range_agg em O(log n). Nossa agregação é contagem, resolvida por diferença de ranks — funciona porque contagem é inversível (mín/máx não seriam). E por que AVL: nossa carga é 55% inserção ORDENADA + 30%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Continuação do Bloco 1. O que mais avaliamos no projeto: manter size/aggregate corretos sob rotação. A rotação move A, B e C inteiras — só x e y mudam. Recomputamos x antes de y (y consome os valores novos de x). Se invertêssemos, ou se esquecêssemos o update: nada quebra na hora, rank e select só passam a mentir. É o bug silencioso do enunciado — e o oráculo pega ele nas buscas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2 (1 min, Integrante B). Sejam específicos: quais ferramentas, que tipo de prompt (com contexto da instância e critério de aceitação), e a fronteira — código com ajuda, validação e interpretação nossas. Tudo documentado no dump em docs/prompts.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3 (1–2 min, Integrante C). Resultado central: nossa inserção é ordenada — a BST sem balanceamento degenerou em corrente (altura = nº de chaves) e ficou 15,6× mais lenta já em 10k operações. A AVL manteve altura 23 com 4 milhões de chaves, 5% acima do mínimo teórico. Tudo verificado pelo oráculo.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Bloco 3. Três porquês: (1) o desvio da curva teórica é cache — custo por nível 52→145 ns quando a árvore não cabe no L3; (2) o achado contraintuitivo: inserção ordenada foi 29% mais rápida que embaralhada na AVL, por localidade da espinha direita; (3) enviesamento Zipfiano melhora p50 em ~48% e não move o p99. Frase final: teoria dá a forma, hardware dá a constante — e conseguimos explicar cada desvio.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AVL Aumentada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Carga Real em Larga Escala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— Estruturas de Dados · Grupo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(timestamps da Wikipédia, SOSD)   ·   θ = 0.6   ·   mix 55:15:30   ·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range_agg = contagem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inserção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seed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Dyonathan Bento Laner   ·   Gustavo Borges Arrussul Veiga   ·   Lucas Kaue Ribeiro Weber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estrutura: uma AVL aumentada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intuição.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BST só é rápida se ficar rasa. A AVL rebalanceia com rotações e garante altura ≤ 1,44·log₂(n) — a menor entre as opções permitidas (rubro-negra tolera 2·log₂(n); treap só garante em média).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carrega o tamanho e o agregado da sua subárvore. Isso transforma a árvore numa estrutura de estatísticas de ordem — e é o que precisa sobreviver a cada rotação.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4160520" cy="914400"/>
          </a:xfrm>
          <a:prstGeom prst="rect">
            <a:avLst/>
          </a:prstGeom>
          <a:solidFill>
            <a:srgbClr val="184F95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AVL aqui: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da carga é inserção ordenada + 30% busca → altura mínima garantida é o que importa.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1051560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88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/ delete /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344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rebalanceamento automático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10881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1801368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37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093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chaves menores que 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1837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551176"/>
            <a:ext cx="3794760" cy="640080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587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select(i)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843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i-ésima menor chave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2587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300984"/>
            <a:ext cx="3794760" cy="850392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range_agg(a, 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593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chaves em [a, b]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rank(b+1) − rank(a)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difícil: os campos aumentados sob rotação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 por nó: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ordem de busca · I2 |balanceamento| ≤ 1 · I3 size = 1 + size(esq) + size(dir) · I4 agregado da subárvore.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2020824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rotação move subárvores inteiras (A, B, C) —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x e y mudam de conteúdo, então só eles são recomputados.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990088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_update(x) ANTES de _update(y) — a nova raiz consome os valores recém-computados do filho.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959352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isso não lança erro: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rank/select/range_agg passam a responder errado em silêncio. O oráculo transitivo do projeto detecta (26/26 execuções OK).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flipH="1">
            <a:off x="5422392" y="1746504"/>
            <a:ext cx="36576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88152" y="1746504"/>
            <a:ext cx="41148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879592" y="2523744"/>
            <a:ext cx="32004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523744"/>
            <a:ext cx="36576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3258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34416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2103120"/>
            <a:ext cx="420624" cy="420624"/>
          </a:xfrm>
          <a:prstGeom prst="ellipse">
            <a:avLst/>
          </a:prstGeom>
          <a:solidFill>
            <a:srgbClr val="E1E0D9"/>
          </a:solidFill>
          <a:ln w="12700">
            <a:solidFill>
              <a:srgbClr val="B9B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12140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10312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12140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2880360"/>
            <a:ext cx="420624" cy="420624"/>
          </a:xfrm>
          <a:prstGeom prst="ellipse">
            <a:avLst/>
          </a:prstGeom>
          <a:solidFill>
            <a:srgbClr val="E1E0D9"/>
          </a:solidFill>
          <a:ln w="12700">
            <a:solidFill>
              <a:srgbClr val="B9B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8986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2880360"/>
            <a:ext cx="420624" cy="420624"/>
          </a:xfrm>
          <a:prstGeom prst="ellipse">
            <a:avLst/>
          </a:prstGeom>
          <a:solidFill>
            <a:srgbClr val="E1E0D9"/>
          </a:solidFill>
          <a:ln w="12700">
            <a:solidFill>
              <a:srgbClr val="B9B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8986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 flipH="1">
            <a:off x="7616952" y="1746504"/>
            <a:ext cx="36576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2712" y="1746504"/>
            <a:ext cx="41148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7296912" y="2523744"/>
            <a:ext cx="32004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16952" y="2523744"/>
            <a:ext cx="365760" cy="356616"/>
          </a:xfrm>
          <a:prstGeom prst="line">
            <a:avLst/>
          </a:prstGeom>
          <a:noFill/>
          <a:ln w="19050">
            <a:solidFill>
              <a:srgbClr val="9A99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13258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134416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210312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184F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212140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83880" y="2103120"/>
            <a:ext cx="420624" cy="420624"/>
          </a:xfrm>
          <a:prstGeom prst="ellipse">
            <a:avLst/>
          </a:prstGeom>
          <a:solidFill>
            <a:srgbClr val="E1E0D9"/>
          </a:solidFill>
          <a:ln w="12700">
            <a:solidFill>
              <a:srgbClr val="B9B8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212140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86600" y="2880360"/>
            <a:ext cx="420624" cy="420624"/>
          </a:xfrm>
          <a:prstGeom prst="ellipse">
            <a:avLst/>
          </a:prstGeom>
          <a:solidFill>
            <a:srgbClr val="E1E0D9"/>
          </a:solidFill>
          <a:ln w="12700">
            <a:solidFill>
              <a:srgbClr val="B9B8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28986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0" y="2880360"/>
            <a:ext cx="420624" cy="420624"/>
          </a:xfrm>
          <a:prstGeom prst="ellipse">
            <a:avLst/>
          </a:prstGeom>
          <a:solidFill>
            <a:srgbClr val="E1E0D9"/>
          </a:solidFill>
          <a:ln w="12700">
            <a:solidFill>
              <a:srgbClr val="B9B8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28986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3520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à esquerda em x — A, B, C movem inteiras; recomputa-se só x e depois 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114800"/>
            <a:ext cx="3931920" cy="457200"/>
          </a:xfrm>
          <a:prstGeom prst="rect">
            <a:avLst/>
          </a:prstGeom>
          <a:solidFill>
            <a:srgbClr val="F0F5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em-ordem preservado: </a:t>
            </a:r>
            <a:pPr algn="ctr"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x &lt; B &lt; y &lt; C, antes e depois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usamos de LLM — e o que ficou conosco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0F5FC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298448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LLM ajudou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driver de benchmark com latência por operação, baseline BST ingênua, automação da suíte (26 cenários), gráficos.</a:t>
            </a:r>
            <a:endParaRPr lang="en-US" sz="1100" dirty="0"/>
          </a:p>
          <a:p>
            <a:pPr marL="101600" indent="-101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com a NOSSA instância e critérios verificáveis — ex.: “a baseline precisa ser iterativa: com inserção ordenada a profundidade chega a n”.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109728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0F5FC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298448"/>
            <a:ext cx="274320" cy="2743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validamos tudo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aceito sem verificação: oráculo do professor em toda execução — 26/26 sem divergência (3.000.660 buscas conferidas na maior) — e 12 testes unitários.</a:t>
            </a:r>
            <a:endParaRPr lang="en-US" sz="1100" dirty="0"/>
          </a:p>
          <a:p>
            <a:pPr marL="101600" indent="-101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estranhos foram questionados antes de aceitos (ex.: sorted mais rápido que shuffle).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109728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0F5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91072" y="1298448"/>
            <a:ext cx="274320" cy="274320"/>
          </a:xfrm>
          <a:prstGeom prst="ellipse">
            <a:avLst/>
          </a:prstGeom>
          <a:solidFill>
            <a:srgbClr val="184F95"/>
          </a:solidFill>
          <a:ln/>
        </p:spPr>
      </p:sp>
      <p:sp>
        <p:nvSpPr>
          <p:cNvPr id="13" name="Text 11"/>
          <p:cNvSpPr/>
          <p:nvPr/>
        </p:nvSpPr>
        <p:spPr>
          <a:xfrm>
            <a:off x="6656832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do grupo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91072" y="178308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decisões: por que AVL, por que rank(b+1) − rank(a), como derivar a carga do SOSD.</a:t>
            </a:r>
            <a:endParaRPr lang="en-US" sz="1100" dirty="0"/>
          </a:p>
          <a:p>
            <a:pPr marL="101600" indent="-101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interpretação de cada gráfico e esta defesa. Dump organizado dos chats em docs/prompts/ (índice por sessão e autor).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seguimos: LLM permitida no código; medição, interpretação e defesa são intransferíveis — e a nota está aí.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balancear é sobrevivência na nossa carga</a:t>
            </a:r>
            <a:endParaRPr lang="en-US" sz="2800" dirty="0"/>
          </a:p>
        </p:txBody>
      </p:sp>
      <p:pic>
        <p:nvPicPr>
          <p:cNvPr id="3" name="Image 0" descr="F:\data-structures-final-project-g7\docs\figures\fig4_al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0292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06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final vs chaves vivas (log-log): AVL cola no log₂(n); a BST ingênua com inserção ordenada segue a reta 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0" y="1143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15,6×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715000" y="17099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lenta: a BST sem balanceamento, já com 10 mil operações (altura 4.022 = corrente)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0" y="23500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715000" y="29169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da AVL com 4,08 M de chaves — 5% acima do mínimo log₂(n) = 22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0" y="35570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715000" y="41239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 aprovadas pelo oráculo; O(log n) confirmado em 4 ordens de grandeza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porquês: onde a prática diverge da teoria</a:t>
            </a:r>
            <a:endParaRPr lang="en-US" sz="2800" dirty="0"/>
          </a:p>
        </p:txBody>
      </p:sp>
      <p:pic>
        <p:nvPicPr>
          <p:cNvPr id="3" name="Image 0" descr="F:\data-structures-final-project-g7\docs\figures\fig1_escala_me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212080" cy="19568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por operação vs N (log-log), com referência c·log₂(n).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97880" y="11887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não algoritmo: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é log(n), mas o custo por nível triplica (52 → 145 ns) quando a árvore de 4M de nós excede os 16 MB de L3.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897880" y="2359152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foi 29% MAIS RÁPIDO que shuffle na AVL: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inserção desce pela espinha direita — caminho curto e quente no cache. O caso “patológico” só é patológico sem balanceamento.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897880" y="3529584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Zipf ajuda o típico, não a cauda: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θ=1.2 derruba o p50 da busca em ~48%, e o p99 não se move — as chaves frias pagam a descida inteira.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5212080" cy="777240"/>
          </a:xfrm>
          <a:prstGeom prst="rect">
            <a:avLst/>
          </a:prstGeom>
          <a:solidFill>
            <a:srgbClr val="184F95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dá a forma da curva; o hardware dá a constante. Medimos as duas e sabemos explicar cada desvio.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2026-07-15T19:33:47Z</dcterms:created>
  <dcterms:modified xsi:type="dcterms:W3CDTF">2026-07-15T19:33:47Z</dcterms:modified>
</cp:coreProperties>
</file>